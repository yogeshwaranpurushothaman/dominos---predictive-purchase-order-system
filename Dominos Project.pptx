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19"/>
  </p:notesMasterIdLst>
  <p:sldIdLst>
    <p:sldId id="257" r:id="rId5"/>
    <p:sldId id="258" r:id="rId6"/>
    <p:sldId id="259" r:id="rId7"/>
    <p:sldId id="260" r:id="rId8"/>
    <p:sldId id="262" r:id="rId9"/>
    <p:sldId id="280" r:id="rId10"/>
    <p:sldId id="263" r:id="rId11"/>
    <p:sldId id="267" r:id="rId12"/>
    <p:sldId id="269" r:id="rId13"/>
    <p:sldId id="270" r:id="rId14"/>
    <p:sldId id="271" r:id="rId15"/>
    <p:sldId id="275" r:id="rId16"/>
    <p:sldId id="281" r:id="rId17"/>
    <p:sldId id="27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19" autoAdjust="0"/>
  </p:normalViewPr>
  <p:slideViewPr>
    <p:cSldViewPr snapToGrid="0">
      <p:cViewPr>
        <p:scale>
          <a:sx n="66" d="100"/>
          <a:sy n="66" d="100"/>
        </p:scale>
        <p:origin x="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244748-EAF9-4DBF-A777-9C60568B0991}" type="datetimeFigureOut">
              <a:rPr lang="en-IN" smtClean="0"/>
              <a:t>14-04-2025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47EF31-B728-4367-B24E-D6031741FDC1}" type="slidenum">
              <a:rPr lang="en-IN" smtClean="0"/>
              <a:t>‹#›</a:t>
            </a:fld>
            <a:endParaRPr lang="en-IN"/>
          </a:p>
        </p:txBody>
      </p:sp>
    </p:spTree>
    <p:extLst>
      <p:ext uri="{BB962C8B-B14F-4D97-AF65-F5344CB8AC3E}">
        <p14:creationId xmlns:p14="http://schemas.microsoft.com/office/powerpoint/2010/main" val="27097303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F47EF31-B728-4367-B24E-D6031741FDC1}" type="slidenum">
              <a:rPr lang="en-IN" smtClean="0"/>
              <a:t>8</a:t>
            </a:fld>
            <a:endParaRPr lang="en-IN"/>
          </a:p>
        </p:txBody>
      </p:sp>
    </p:spTree>
    <p:extLst>
      <p:ext uri="{BB962C8B-B14F-4D97-AF65-F5344CB8AC3E}">
        <p14:creationId xmlns:p14="http://schemas.microsoft.com/office/powerpoint/2010/main" val="467460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4/14/2025</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340864"/>
            <a:ext cx="11029615" cy="36344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4/14/2025</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4/14/2025</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19476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6039" y="2228003"/>
            <a:ext cx="5194769"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4/14/2025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4/14/2025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4/14/2025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4/14/2025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4/14/2025</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4/14/2025</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4/14/2025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4/14/2025</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2"/>
            <a:ext cx="11029616"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4/14/2025</a:t>
            </a:fld>
            <a:endParaRPr lang="en-US" dirty="0"/>
          </a:p>
        </p:txBody>
      </p:sp>
      <p:sp>
        <p:nvSpPr>
          <p:cNvPr id="5" name="Footer Placeholder 4"/>
          <p:cNvSpPr>
            <a:spLocks noGrp="1"/>
          </p:cNvSpPr>
          <p:nvPr>
            <p:ph type="ftr" sz="quarter" idx="3"/>
          </p:nvPr>
        </p:nvSpPr>
        <p:spPr>
          <a:xfrm>
            <a:off x="581192" y="6423914"/>
            <a:ext cx="6917210" cy="365125"/>
          </a:xfrm>
          <a:prstGeom prst="rect">
            <a:avLst/>
          </a:prstGeom>
        </p:spPr>
        <p:txBody>
          <a:bodyPr vert="horz" lIns="91440" tIns="45720" rIns="91440" bIns="45720" rtlCol="0" anchor="ctr"/>
          <a:lstStyle>
            <a:lvl1pPr algn="l">
              <a:defRPr sz="900"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C1FA8F66-3B85-411D-A2A6-A50DF3026D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Pizza slices on board">
            <a:extLst>
              <a:ext uri="{FF2B5EF4-FFF2-40B4-BE49-F238E27FC236}">
                <a16:creationId xmlns:a16="http://schemas.microsoft.com/office/drawing/2014/main" id="{17B2263E-8B83-106B-DCA3-F0CDE3D1146E}"/>
              </a:ext>
            </a:extLst>
          </p:cNvPr>
          <p:cNvPicPr>
            <a:picLocks noChangeAspect="1"/>
          </p:cNvPicPr>
          <p:nvPr/>
        </p:nvPicPr>
        <p:blipFill>
          <a:blip r:embed="rId2"/>
          <a:srcRect l="7132" r="9313" b="1"/>
          <a:stretch/>
        </p:blipFill>
        <p:spPr>
          <a:xfrm>
            <a:off x="20" y="10"/>
            <a:ext cx="12191980" cy="6857990"/>
          </a:xfrm>
          <a:prstGeom prst="rect">
            <a:avLst/>
          </a:prstGeom>
        </p:spPr>
      </p:pic>
      <p:sp>
        <p:nvSpPr>
          <p:cNvPr id="48" name="Rectangle 47">
            <a:extLst>
              <a:ext uri="{FF2B5EF4-FFF2-40B4-BE49-F238E27FC236}">
                <a16:creationId xmlns:a16="http://schemas.microsoft.com/office/drawing/2014/main" id="{4179E790-E691-4202-B7FA-62924FC8D1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219240"/>
            <a:ext cx="11301984" cy="94997"/>
          </a:xfrm>
          <a:prstGeom prst="rect">
            <a:avLst/>
          </a:prstGeom>
          <a:solidFill>
            <a:schemeClr val="tx1">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0" name="Rectangle 49">
            <a:extLst>
              <a:ext uri="{FF2B5EF4-FFF2-40B4-BE49-F238E27FC236}">
                <a16:creationId xmlns:a16="http://schemas.microsoft.com/office/drawing/2014/main" id="{B7695657-4834-4DEB-A529-4DB28F696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187" y="4219240"/>
            <a:ext cx="11301984" cy="94997"/>
          </a:xfrm>
          <a:prstGeom prst="rect">
            <a:avLst/>
          </a:prstGeom>
          <a:solidFill>
            <a:srgbClr val="C49447">
              <a:alpha val="40000"/>
            </a:srgb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2" name="Rectangle 51">
            <a:extLst>
              <a:ext uri="{FF2B5EF4-FFF2-40B4-BE49-F238E27FC236}">
                <a16:creationId xmlns:a16="http://schemas.microsoft.com/office/drawing/2014/main" id="{065EE0A0-4DA6-4AA2-A475-14DB03C55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7234" y="4376057"/>
            <a:ext cx="11303626" cy="2034709"/>
          </a:xfrm>
          <a:prstGeom prst="rect">
            <a:avLst/>
          </a:prstGeom>
          <a:solidFill>
            <a:schemeClr val="tx1">
              <a:alpha val="50000"/>
            </a:scheme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54" name="Rectangle 53">
            <a:extLst>
              <a:ext uri="{FF2B5EF4-FFF2-40B4-BE49-F238E27FC236}">
                <a16:creationId xmlns:a16="http://schemas.microsoft.com/office/drawing/2014/main" id="{C6DB5293-7EEA-499F-BC82-82AE672149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4187" y="4376057"/>
            <a:ext cx="11303626" cy="2034709"/>
          </a:xfrm>
          <a:prstGeom prst="rect">
            <a:avLst/>
          </a:prstGeom>
          <a:solidFill>
            <a:srgbClr val="C49447">
              <a:alpha val="40000"/>
            </a:srgbClr>
          </a:solidFill>
          <a:ln w="6350" cmpd="sng">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C21E816-31F5-48BB-BD02-D15F2F18B48A}"/>
              </a:ext>
            </a:extLst>
          </p:cNvPr>
          <p:cNvSpPr>
            <a:spLocks noGrp="1"/>
          </p:cNvSpPr>
          <p:nvPr>
            <p:ph type="ctrTitle"/>
          </p:nvPr>
        </p:nvSpPr>
        <p:spPr>
          <a:xfrm>
            <a:off x="609599" y="4572000"/>
            <a:ext cx="10965141" cy="895244"/>
          </a:xfrm>
        </p:spPr>
        <p:txBody>
          <a:bodyPr>
            <a:normAutofit/>
          </a:bodyPr>
          <a:lstStyle/>
          <a:p>
            <a:r>
              <a:rPr lang="en-GB" sz="3700">
                <a:solidFill>
                  <a:schemeClr val="bg1"/>
                </a:solidFill>
              </a:rPr>
              <a:t>Dominos - Predictive Purchase Order System</a:t>
            </a:r>
            <a:endParaRPr lang="en-US" sz="3700">
              <a:solidFill>
                <a:schemeClr val="bg1"/>
              </a:solidFill>
            </a:endParaRPr>
          </a:p>
        </p:txBody>
      </p:sp>
    </p:spTree>
    <p:extLst>
      <p:ext uri="{BB962C8B-B14F-4D97-AF65-F5344CB8AC3E}">
        <p14:creationId xmlns:p14="http://schemas.microsoft.com/office/powerpoint/2010/main" val="24758055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p:txBody>
          <a:bodyPr/>
          <a:lstStyle/>
          <a:p>
            <a:r>
              <a:rPr lang="en-US" dirty="0"/>
              <a:t>Objective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p:txBody>
          <a:bodyPr/>
          <a:lstStyle/>
          <a:p>
            <a:pPr marL="0" indent="0">
              <a:buNone/>
            </a:pPr>
            <a:r>
              <a:rPr lang="en-GB" sz="1800" b="0" i="0" u="none" strike="noStrike" dirty="0">
                <a:solidFill>
                  <a:srgbClr val="000000"/>
                </a:solidFill>
                <a:effectLst/>
                <a:latin typeface="Arial" panose="020B0604020202020204" pitchFamily="34" charset="0"/>
              </a:rPr>
              <a:t>Dominos wants to optimize the process of ordering ingredients by predicting future sales and creating a purchase order. By accurately forecasting sales, Dominos can ensure that it has the right amount of ingredients in stock, minimizing waste and preventing stockouts. This project aims to leverage historical sales data and ingredient information to develop a predictive model and generate an efficient purchase order system.</a:t>
            </a:r>
            <a:endParaRPr lang="en-IN" dirty="0"/>
          </a:p>
        </p:txBody>
      </p:sp>
    </p:spTree>
    <p:extLst>
      <p:ext uri="{BB962C8B-B14F-4D97-AF65-F5344CB8AC3E}">
        <p14:creationId xmlns:p14="http://schemas.microsoft.com/office/powerpoint/2010/main" val="2637846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442143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Data Processing</a:t>
            </a:r>
          </a:p>
          <a:p>
            <a:pPr marL="0" indent="0">
              <a:buNone/>
            </a:pPr>
            <a:r>
              <a:rPr lang="en-GB" sz="1800" b="0" i="0" u="none" strike="noStrike" dirty="0">
                <a:solidFill>
                  <a:srgbClr val="000000"/>
                </a:solidFill>
                <a:effectLst/>
                <a:latin typeface="Arial" panose="020B0604020202020204" pitchFamily="34" charset="0"/>
              </a:rPr>
              <a:t>	</a:t>
            </a:r>
            <a:r>
              <a:rPr lang="en-IN" sz="1800" b="1" i="0" u="none" strike="noStrike" dirty="0">
                <a:solidFill>
                  <a:srgbClr val="000000"/>
                </a:solidFill>
                <a:effectLst/>
                <a:latin typeface="Arial" panose="020B0604020202020204" pitchFamily="34" charset="0"/>
              </a:rPr>
              <a:t>Import</a:t>
            </a:r>
          </a:p>
          <a:p>
            <a:pPr marL="0" indent="0">
              <a:buNone/>
            </a:pPr>
            <a:r>
              <a:rPr lang="en-IN" sz="1800" b="1" dirty="0">
                <a:solidFill>
                  <a:srgbClr val="000000"/>
                </a:solidFill>
                <a:latin typeface="Arial" panose="020B0604020202020204" pitchFamily="34" charset="0"/>
              </a:rPr>
              <a:t>		</a:t>
            </a:r>
            <a:r>
              <a:rPr lang="en-GB" sz="1800" b="0" i="0" u="none" strike="noStrike" dirty="0">
                <a:solidFill>
                  <a:srgbClr val="000000"/>
                </a:solidFill>
                <a:effectLst/>
                <a:latin typeface="Arial" panose="020B0604020202020204" pitchFamily="34" charset="0"/>
              </a:rPr>
              <a:t>Data imported and check for missing and null values</a:t>
            </a:r>
            <a:r>
              <a:rPr lang="en-GB" sz="1800" dirty="0">
                <a:solidFill>
                  <a:srgbClr val="000000"/>
                </a:solidFill>
                <a:latin typeface="Arial" panose="020B0604020202020204" pitchFamily="34" charset="0"/>
              </a:rPr>
              <a:t> in Sales data and ingredient Data.</a:t>
            </a:r>
            <a:endParaRPr lang="en-GB" sz="1800" b="0" i="0" u="none" strike="noStrike" dirty="0">
              <a:solidFill>
                <a:srgbClr val="000000"/>
              </a:solidFill>
              <a:effectLst/>
              <a:latin typeface="Arial" panose="020B0604020202020204" pitchFamily="34" charset="0"/>
            </a:endParaRPr>
          </a:p>
          <a:p>
            <a:pPr marL="0" indent="0">
              <a:buNone/>
            </a:pPr>
            <a:r>
              <a:rPr lang="en-IN" dirty="0"/>
              <a:t>	</a:t>
            </a:r>
            <a:r>
              <a:rPr lang="en-IN" sz="1800" b="1" dirty="0">
                <a:solidFill>
                  <a:srgbClr val="000000"/>
                </a:solidFill>
                <a:latin typeface="Arial" panose="020B0604020202020204" pitchFamily="34" charset="0"/>
              </a:rPr>
              <a:t>Missing Value Treatment</a:t>
            </a:r>
          </a:p>
          <a:p>
            <a:pPr marL="0" indent="0">
              <a:buNone/>
            </a:pPr>
            <a:r>
              <a:rPr lang="en-IN" dirty="0"/>
              <a:t>		</a:t>
            </a:r>
            <a:r>
              <a:rPr lang="en-IN" sz="1800" dirty="0">
                <a:solidFill>
                  <a:srgbClr val="000000"/>
                </a:solidFill>
                <a:latin typeface="Arial" panose="020B0604020202020204" pitchFamily="34" charset="0"/>
              </a:rPr>
              <a:t>Missing values in Name, size and category was treated by lookup from the same column values. 		Total price derived from Quantity and unit price. And dropping null values.</a:t>
            </a:r>
          </a:p>
          <a:p>
            <a:pPr marL="0" indent="0">
              <a:buNone/>
            </a:pPr>
            <a:r>
              <a:rPr lang="en-IN" sz="1800" dirty="0">
                <a:solidFill>
                  <a:srgbClr val="000000"/>
                </a:solidFill>
                <a:latin typeface="Arial" panose="020B0604020202020204" pitchFamily="34" charset="0"/>
              </a:rPr>
              <a:t>	</a:t>
            </a:r>
            <a:r>
              <a:rPr lang="en-IN" sz="1800" b="1" dirty="0">
                <a:solidFill>
                  <a:srgbClr val="000000"/>
                </a:solidFill>
                <a:latin typeface="Arial" panose="020B0604020202020204" pitchFamily="34" charset="0"/>
              </a:rPr>
              <a:t>Feature Engineering</a:t>
            </a:r>
          </a:p>
          <a:p>
            <a:pPr marL="0" indent="0">
              <a:buNone/>
            </a:pPr>
            <a:r>
              <a:rPr lang="en-IN" sz="1800" b="1" dirty="0">
                <a:solidFill>
                  <a:srgbClr val="000000"/>
                </a:solidFill>
                <a:latin typeface="Arial" panose="020B0604020202020204" pitchFamily="34" charset="0"/>
              </a:rPr>
              <a:t>		</a:t>
            </a:r>
            <a:r>
              <a:rPr lang="en-IN" sz="1800" dirty="0">
                <a:solidFill>
                  <a:srgbClr val="000000"/>
                </a:solidFill>
                <a:latin typeface="Arial" panose="020B0604020202020204" pitchFamily="34" charset="0"/>
              </a:rPr>
              <a:t>New features created from Order date, like Week of the year, Day of the week, time of order and 		is Holiday.	</a:t>
            </a:r>
          </a:p>
        </p:txBody>
      </p:sp>
    </p:spTree>
    <p:extLst>
      <p:ext uri="{BB962C8B-B14F-4D97-AF65-F5344CB8AC3E}">
        <p14:creationId xmlns:p14="http://schemas.microsoft.com/office/powerpoint/2010/main" val="2338243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104282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 Exploratory Data Analysis (EDA)</a:t>
            </a:r>
          </a:p>
          <a:p>
            <a:pPr marL="0" indent="0">
              <a:buNone/>
            </a:pPr>
            <a:r>
              <a:rPr lang="en-GB" sz="1800" b="0" i="0" u="none" strike="noStrike" dirty="0">
                <a:solidFill>
                  <a:srgbClr val="000000"/>
                </a:solidFill>
                <a:effectLst/>
                <a:latin typeface="Arial" panose="020B0604020202020204" pitchFamily="34" charset="0"/>
              </a:rPr>
              <a:t>	</a:t>
            </a:r>
            <a:endParaRPr lang="en-IN" sz="18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73F30568-8963-7F32-9F9E-E2B0AC39076D}"/>
              </a:ext>
            </a:extLst>
          </p:cNvPr>
          <p:cNvPicPr>
            <a:picLocks noChangeAspect="1"/>
          </p:cNvPicPr>
          <p:nvPr/>
        </p:nvPicPr>
        <p:blipFill>
          <a:blip r:embed="rId2"/>
          <a:srcRect r="6718"/>
          <a:stretch/>
        </p:blipFill>
        <p:spPr>
          <a:xfrm>
            <a:off x="994347" y="2552227"/>
            <a:ext cx="10616460" cy="4055677"/>
          </a:xfrm>
          <a:prstGeom prst="rect">
            <a:avLst/>
          </a:prstGeom>
        </p:spPr>
      </p:pic>
    </p:spTree>
    <p:extLst>
      <p:ext uri="{BB962C8B-B14F-4D97-AF65-F5344CB8AC3E}">
        <p14:creationId xmlns:p14="http://schemas.microsoft.com/office/powerpoint/2010/main" val="1243166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104282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 Exploratory Data Analysis (EDA)</a:t>
            </a:r>
          </a:p>
          <a:p>
            <a:pPr marL="0" indent="0">
              <a:buNone/>
            </a:pPr>
            <a:r>
              <a:rPr lang="en-GB" sz="1800" b="0" i="0" u="none" strike="noStrike" dirty="0">
                <a:solidFill>
                  <a:srgbClr val="000000"/>
                </a:solidFill>
                <a:effectLst/>
                <a:latin typeface="Arial" panose="020B0604020202020204" pitchFamily="34" charset="0"/>
              </a:rPr>
              <a:t>	</a:t>
            </a:r>
            <a:endParaRPr lang="en-IN" sz="1800" dirty="0">
              <a:solidFill>
                <a:srgbClr val="000000"/>
              </a:solidFill>
              <a:latin typeface="Arial" panose="020B0604020202020204" pitchFamily="34" charset="0"/>
            </a:endParaRPr>
          </a:p>
        </p:txBody>
      </p:sp>
      <p:pic>
        <p:nvPicPr>
          <p:cNvPr id="6" name="Picture 5">
            <a:extLst>
              <a:ext uri="{FF2B5EF4-FFF2-40B4-BE49-F238E27FC236}">
                <a16:creationId xmlns:a16="http://schemas.microsoft.com/office/drawing/2014/main" id="{F3F73A51-6797-E940-EE15-447FF2EC0B4C}"/>
              </a:ext>
            </a:extLst>
          </p:cNvPr>
          <p:cNvPicPr>
            <a:picLocks noChangeAspect="1"/>
          </p:cNvPicPr>
          <p:nvPr/>
        </p:nvPicPr>
        <p:blipFill>
          <a:blip r:embed="rId2"/>
          <a:stretch>
            <a:fillRect/>
          </a:stretch>
        </p:blipFill>
        <p:spPr>
          <a:xfrm>
            <a:off x="581191" y="2412287"/>
            <a:ext cx="11029615" cy="4206809"/>
          </a:xfrm>
          <a:prstGeom prst="rect">
            <a:avLst/>
          </a:prstGeom>
        </p:spPr>
      </p:pic>
    </p:spTree>
    <p:extLst>
      <p:ext uri="{BB962C8B-B14F-4D97-AF65-F5344CB8AC3E}">
        <p14:creationId xmlns:p14="http://schemas.microsoft.com/office/powerpoint/2010/main" val="7712721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C0891-C853-5C4D-BD4E-75668AA7AF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3E5EF7-186D-D144-5CF0-8E4DF84057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38E7DBE1-789D-F198-0420-E63FED760A78}"/>
              </a:ext>
            </a:extLst>
          </p:cNvPr>
          <p:cNvSpPr>
            <a:spLocks noGrp="1"/>
          </p:cNvSpPr>
          <p:nvPr>
            <p:ph idx="1"/>
          </p:nvPr>
        </p:nvSpPr>
        <p:spPr>
          <a:xfrm>
            <a:off x="581193" y="1481145"/>
            <a:ext cx="11029615" cy="104282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 Exploratory Data Analysis (EDA)</a:t>
            </a:r>
          </a:p>
          <a:p>
            <a:pPr marL="0" indent="0">
              <a:buNone/>
            </a:pPr>
            <a:r>
              <a:rPr lang="en-GB" sz="1800" b="0" i="0" u="none" strike="noStrike" dirty="0">
                <a:solidFill>
                  <a:srgbClr val="000000"/>
                </a:solidFill>
                <a:effectLst/>
                <a:latin typeface="Arial" panose="020B0604020202020204" pitchFamily="34" charset="0"/>
              </a:rPr>
              <a:t>	</a:t>
            </a:r>
            <a:endParaRPr lang="en-IN" sz="1800" dirty="0">
              <a:solidFill>
                <a:srgbClr val="000000"/>
              </a:solidFill>
              <a:latin typeface="Arial" panose="020B0604020202020204" pitchFamily="34" charset="0"/>
            </a:endParaRPr>
          </a:p>
        </p:txBody>
      </p:sp>
      <p:pic>
        <p:nvPicPr>
          <p:cNvPr id="6" name="Picture 5">
            <a:extLst>
              <a:ext uri="{FF2B5EF4-FFF2-40B4-BE49-F238E27FC236}">
                <a16:creationId xmlns:a16="http://schemas.microsoft.com/office/drawing/2014/main" id="{07D1EA54-E92D-96EB-4C09-49F38D2DBAFD}"/>
              </a:ext>
            </a:extLst>
          </p:cNvPr>
          <p:cNvPicPr>
            <a:picLocks noChangeAspect="1"/>
          </p:cNvPicPr>
          <p:nvPr/>
        </p:nvPicPr>
        <p:blipFill>
          <a:blip r:embed="rId2"/>
          <a:srcRect/>
          <a:stretch/>
        </p:blipFill>
        <p:spPr>
          <a:xfrm>
            <a:off x="581191" y="2040029"/>
            <a:ext cx="5443851" cy="3814671"/>
          </a:xfrm>
          <a:prstGeom prst="rect">
            <a:avLst/>
          </a:prstGeom>
        </p:spPr>
      </p:pic>
      <p:pic>
        <p:nvPicPr>
          <p:cNvPr id="4" name="Picture 3">
            <a:extLst>
              <a:ext uri="{FF2B5EF4-FFF2-40B4-BE49-F238E27FC236}">
                <a16:creationId xmlns:a16="http://schemas.microsoft.com/office/drawing/2014/main" id="{BD1E42D5-86CB-1373-9DFA-99B2844AFB92}"/>
              </a:ext>
            </a:extLst>
          </p:cNvPr>
          <p:cNvPicPr>
            <a:picLocks noChangeAspect="1"/>
          </p:cNvPicPr>
          <p:nvPr/>
        </p:nvPicPr>
        <p:blipFill>
          <a:blip r:embed="rId3"/>
          <a:stretch>
            <a:fillRect/>
          </a:stretch>
        </p:blipFill>
        <p:spPr>
          <a:xfrm>
            <a:off x="6096000" y="2189810"/>
            <a:ext cx="4439004" cy="2836958"/>
          </a:xfrm>
          <a:prstGeom prst="rect">
            <a:avLst/>
          </a:prstGeom>
        </p:spPr>
      </p:pic>
    </p:spTree>
    <p:extLst>
      <p:ext uri="{BB962C8B-B14F-4D97-AF65-F5344CB8AC3E}">
        <p14:creationId xmlns:p14="http://schemas.microsoft.com/office/powerpoint/2010/main" val="155072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104282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 Exploratory Data Analysis (EDA)</a:t>
            </a:r>
            <a:r>
              <a:rPr lang="en-IN" sz="1800" b="1" u="sng" dirty="0">
                <a:solidFill>
                  <a:srgbClr val="000000"/>
                </a:solidFill>
                <a:latin typeface="Arial" panose="020B0604020202020204" pitchFamily="34" charset="0"/>
              </a:rPr>
              <a:t> – Outliers Removed</a:t>
            </a:r>
            <a:endParaRPr lang="en-IN" sz="1800" b="1" i="0" u="sng" strike="noStrike" dirty="0">
              <a:solidFill>
                <a:srgbClr val="000000"/>
              </a:solidFill>
              <a:effectLst/>
              <a:latin typeface="Arial" panose="020B0604020202020204" pitchFamily="34" charset="0"/>
            </a:endParaRPr>
          </a:p>
          <a:p>
            <a:pPr marL="0" indent="0">
              <a:buNone/>
            </a:pPr>
            <a:r>
              <a:rPr lang="en-GB" sz="1800" b="0" i="0" u="none" strike="noStrike" dirty="0">
                <a:solidFill>
                  <a:srgbClr val="000000"/>
                </a:solidFill>
                <a:effectLst/>
                <a:latin typeface="Arial" panose="020B0604020202020204" pitchFamily="34" charset="0"/>
              </a:rPr>
              <a:t>	</a:t>
            </a:r>
            <a:endParaRPr lang="en-IN" sz="1800" dirty="0">
              <a:solidFill>
                <a:srgbClr val="000000"/>
              </a:solidFill>
              <a:latin typeface="Arial" panose="020B0604020202020204" pitchFamily="34" charset="0"/>
            </a:endParaRPr>
          </a:p>
        </p:txBody>
      </p:sp>
      <p:pic>
        <p:nvPicPr>
          <p:cNvPr id="4" name="Picture 3">
            <a:extLst>
              <a:ext uri="{FF2B5EF4-FFF2-40B4-BE49-F238E27FC236}">
                <a16:creationId xmlns:a16="http://schemas.microsoft.com/office/drawing/2014/main" id="{23A92F5C-2CD2-B046-A055-6127C23C91EC}"/>
              </a:ext>
            </a:extLst>
          </p:cNvPr>
          <p:cNvPicPr>
            <a:picLocks noChangeAspect="1"/>
          </p:cNvPicPr>
          <p:nvPr/>
        </p:nvPicPr>
        <p:blipFill>
          <a:blip r:embed="rId2"/>
          <a:stretch>
            <a:fillRect/>
          </a:stretch>
        </p:blipFill>
        <p:spPr>
          <a:xfrm>
            <a:off x="570728" y="2412288"/>
            <a:ext cx="5525271" cy="4077269"/>
          </a:xfrm>
          <a:prstGeom prst="rect">
            <a:avLst/>
          </a:prstGeom>
        </p:spPr>
      </p:pic>
      <p:pic>
        <p:nvPicPr>
          <p:cNvPr id="9" name="Picture 8">
            <a:extLst>
              <a:ext uri="{FF2B5EF4-FFF2-40B4-BE49-F238E27FC236}">
                <a16:creationId xmlns:a16="http://schemas.microsoft.com/office/drawing/2014/main" id="{2EC7849F-A7CB-EF67-5A76-A92C326B5C27}"/>
              </a:ext>
            </a:extLst>
          </p:cNvPr>
          <p:cNvPicPr>
            <a:picLocks noChangeAspect="1"/>
          </p:cNvPicPr>
          <p:nvPr/>
        </p:nvPicPr>
        <p:blipFill>
          <a:blip r:embed="rId3"/>
          <a:stretch>
            <a:fillRect/>
          </a:stretch>
        </p:blipFill>
        <p:spPr>
          <a:xfrm>
            <a:off x="6106463" y="2412288"/>
            <a:ext cx="4135664" cy="2838681"/>
          </a:xfrm>
          <a:prstGeom prst="rect">
            <a:avLst/>
          </a:prstGeom>
        </p:spPr>
      </p:pic>
    </p:spTree>
    <p:extLst>
      <p:ext uri="{BB962C8B-B14F-4D97-AF65-F5344CB8AC3E}">
        <p14:creationId xmlns:p14="http://schemas.microsoft.com/office/powerpoint/2010/main" val="41206811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1042824"/>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 Exploratory Data Analysis (EDA)</a:t>
            </a:r>
          </a:p>
          <a:p>
            <a:pPr marL="0" indent="0">
              <a:buNone/>
            </a:pPr>
            <a:r>
              <a:rPr lang="en-GB" sz="1800" b="0" i="0" u="none" strike="noStrike" dirty="0">
                <a:solidFill>
                  <a:srgbClr val="000000"/>
                </a:solidFill>
                <a:effectLst/>
                <a:latin typeface="Arial" panose="020B0604020202020204" pitchFamily="34" charset="0"/>
              </a:rPr>
              <a:t>	</a:t>
            </a:r>
            <a:endParaRPr lang="en-IN" sz="1800" dirty="0">
              <a:solidFill>
                <a:srgbClr val="000000"/>
              </a:solidFill>
              <a:latin typeface="Arial" panose="020B0604020202020204" pitchFamily="34" charset="0"/>
            </a:endParaRPr>
          </a:p>
        </p:txBody>
      </p:sp>
      <p:pic>
        <p:nvPicPr>
          <p:cNvPr id="6" name="Picture 5">
            <a:extLst>
              <a:ext uri="{FF2B5EF4-FFF2-40B4-BE49-F238E27FC236}">
                <a16:creationId xmlns:a16="http://schemas.microsoft.com/office/drawing/2014/main" id="{2D824022-9D7B-9119-FFAA-E2CFFD0F2F6D}"/>
              </a:ext>
            </a:extLst>
          </p:cNvPr>
          <p:cNvPicPr>
            <a:picLocks noChangeAspect="1"/>
          </p:cNvPicPr>
          <p:nvPr/>
        </p:nvPicPr>
        <p:blipFill>
          <a:blip r:embed="rId3"/>
          <a:stretch>
            <a:fillRect/>
          </a:stretch>
        </p:blipFill>
        <p:spPr>
          <a:xfrm>
            <a:off x="581192" y="2563555"/>
            <a:ext cx="4973188" cy="3486637"/>
          </a:xfrm>
          <a:prstGeom prst="rect">
            <a:avLst/>
          </a:prstGeom>
        </p:spPr>
      </p:pic>
      <p:pic>
        <p:nvPicPr>
          <p:cNvPr id="8" name="Picture 7">
            <a:extLst>
              <a:ext uri="{FF2B5EF4-FFF2-40B4-BE49-F238E27FC236}">
                <a16:creationId xmlns:a16="http://schemas.microsoft.com/office/drawing/2014/main" id="{F3CBE7C2-21FC-C6C4-E569-C77069A1EC85}"/>
              </a:ext>
            </a:extLst>
          </p:cNvPr>
          <p:cNvPicPr>
            <a:picLocks noChangeAspect="1"/>
          </p:cNvPicPr>
          <p:nvPr/>
        </p:nvPicPr>
        <p:blipFill>
          <a:blip r:embed="rId4"/>
          <a:stretch>
            <a:fillRect/>
          </a:stretch>
        </p:blipFill>
        <p:spPr>
          <a:xfrm>
            <a:off x="5554380" y="2817555"/>
            <a:ext cx="4828812" cy="3291146"/>
          </a:xfrm>
          <a:prstGeom prst="rect">
            <a:avLst/>
          </a:prstGeom>
        </p:spPr>
      </p:pic>
    </p:spTree>
    <p:extLst>
      <p:ext uri="{BB962C8B-B14F-4D97-AF65-F5344CB8AC3E}">
        <p14:creationId xmlns:p14="http://schemas.microsoft.com/office/powerpoint/2010/main" val="7922164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5"/>
            <a:ext cx="11029615" cy="3972895"/>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Model Development</a:t>
            </a:r>
          </a:p>
          <a:p>
            <a:pPr marL="0" indent="0">
              <a:buNone/>
            </a:pPr>
            <a:r>
              <a:rPr lang="en-IN" sz="1800" b="1" i="0" strike="noStrike" dirty="0">
                <a:solidFill>
                  <a:srgbClr val="000000"/>
                </a:solidFill>
                <a:effectLst/>
                <a:latin typeface="Arial" panose="020B0604020202020204" pitchFamily="34" charset="0"/>
              </a:rPr>
              <a:t>	</a:t>
            </a:r>
            <a:r>
              <a:rPr lang="en-IN" sz="1800" i="0" strike="noStrike" dirty="0">
                <a:solidFill>
                  <a:srgbClr val="000000"/>
                </a:solidFill>
                <a:effectLst/>
                <a:latin typeface="Arial" panose="020B0604020202020204" pitchFamily="34" charset="0"/>
              </a:rPr>
              <a:t>Choose Feature columns as </a:t>
            </a:r>
            <a:r>
              <a:rPr lang="en-IN" sz="1800" dirty="0" err="1">
                <a:effectLst/>
              </a:rPr>
              <a:t>order_date</a:t>
            </a:r>
            <a:r>
              <a:rPr lang="en-IN" sz="1800" dirty="0"/>
              <a:t>, </a:t>
            </a:r>
            <a:r>
              <a:rPr lang="en-IN" sz="1800" dirty="0" err="1">
                <a:effectLst/>
              </a:rPr>
              <a:t>pizza_name_id</a:t>
            </a:r>
            <a:r>
              <a:rPr lang="en-IN" sz="1800" dirty="0">
                <a:effectLst/>
              </a:rPr>
              <a:t>, </a:t>
            </a:r>
            <a:r>
              <a:rPr lang="en-IN" sz="1800" dirty="0" err="1">
                <a:effectLst/>
              </a:rPr>
              <a:t>pizza_name</a:t>
            </a:r>
            <a:r>
              <a:rPr lang="en-IN" sz="1800" dirty="0">
                <a:effectLst/>
              </a:rPr>
              <a:t>, </a:t>
            </a:r>
            <a:r>
              <a:rPr lang="en-GB" sz="1800" dirty="0" err="1">
                <a:effectLst/>
              </a:rPr>
              <a:t>pizza_size,day_of_week</a:t>
            </a:r>
            <a:r>
              <a:rPr lang="en-GB" sz="1800" dirty="0"/>
              <a:t>, </a:t>
            </a:r>
            <a:r>
              <a:rPr lang="en-GB" sz="1800" dirty="0" err="1">
                <a:effectLst/>
              </a:rPr>
              <a:t>day_type</a:t>
            </a:r>
            <a:r>
              <a:rPr lang="en-GB" sz="1800" dirty="0">
                <a:effectLst/>
              </a:rPr>
              <a:t>	</a:t>
            </a:r>
            <a:r>
              <a:rPr lang="en-GB" sz="1800" dirty="0" err="1">
                <a:effectLst/>
              </a:rPr>
              <a:t>week_of_year</a:t>
            </a:r>
            <a:r>
              <a:rPr lang="en-GB" sz="1800" dirty="0">
                <a:effectLst/>
              </a:rPr>
              <a:t>,	</a:t>
            </a:r>
            <a:r>
              <a:rPr lang="en-GB" sz="1800" dirty="0" err="1">
                <a:effectLst/>
              </a:rPr>
              <a:t>week_label,order_date_DD</a:t>
            </a:r>
            <a:r>
              <a:rPr lang="en-GB" sz="1800" dirty="0">
                <a:effectLst/>
              </a:rPr>
              <a:t>, </a:t>
            </a:r>
            <a:r>
              <a:rPr lang="en-GB" sz="1800" dirty="0" err="1">
                <a:effectLst/>
              </a:rPr>
              <a:t>order_date_MM,quantity</a:t>
            </a:r>
            <a:r>
              <a:rPr lang="en-GB" sz="1800" dirty="0">
                <a:effectLst/>
              </a:rPr>
              <a:t>.</a:t>
            </a:r>
            <a:endParaRPr lang="en-IN" sz="1800" i="0" strike="noStrike" dirty="0">
              <a:solidFill>
                <a:srgbClr val="000000"/>
              </a:solidFill>
              <a:effectLst/>
              <a:latin typeface="Arial" panose="020B0604020202020204" pitchFamily="34" charset="0"/>
            </a:endParaRPr>
          </a:p>
          <a:p>
            <a:pPr marL="0" indent="0">
              <a:buNone/>
            </a:pPr>
            <a:r>
              <a:rPr lang="en-IN" sz="1800" b="1" i="0" u="sng" strike="noStrike" dirty="0">
                <a:solidFill>
                  <a:srgbClr val="000000"/>
                </a:solidFill>
                <a:effectLst/>
                <a:latin typeface="Arial" panose="020B0604020202020204" pitchFamily="34" charset="0"/>
              </a:rPr>
              <a:t>Model Selection</a:t>
            </a:r>
          </a:p>
          <a:p>
            <a:pPr marL="0" indent="0">
              <a:buNone/>
            </a:pPr>
            <a:r>
              <a:rPr lang="en-IN" sz="1800" b="1" dirty="0">
                <a:solidFill>
                  <a:srgbClr val="000000"/>
                </a:solidFill>
                <a:latin typeface="Arial" panose="020B0604020202020204" pitchFamily="34" charset="0"/>
              </a:rPr>
              <a:t>	1.ARIMA Model</a:t>
            </a:r>
          </a:p>
          <a:p>
            <a:pPr marL="0" indent="0">
              <a:buNone/>
            </a:pPr>
            <a:r>
              <a:rPr lang="en-IN" sz="1800" b="1" dirty="0">
                <a:solidFill>
                  <a:srgbClr val="000000"/>
                </a:solidFill>
                <a:latin typeface="Arial" panose="020B0604020202020204" pitchFamily="34" charset="0"/>
              </a:rPr>
              <a:t>	2.SARIMAX Model</a:t>
            </a:r>
          </a:p>
          <a:p>
            <a:pPr marL="0" indent="0">
              <a:buNone/>
            </a:pPr>
            <a:r>
              <a:rPr lang="en-IN" sz="1800" b="1" dirty="0">
                <a:solidFill>
                  <a:srgbClr val="000000"/>
                </a:solidFill>
                <a:latin typeface="Arial" panose="020B0604020202020204" pitchFamily="34" charset="0"/>
              </a:rPr>
              <a:t>	</a:t>
            </a:r>
            <a:endParaRPr lang="en-IN" sz="1800" i="0"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2814156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2753696"/>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Model Training</a:t>
            </a:r>
          </a:p>
          <a:p>
            <a:pPr marL="0" indent="0">
              <a:buNone/>
            </a:pPr>
            <a:r>
              <a:rPr lang="en-IN" sz="1800" b="1" i="0" strike="noStrike" dirty="0">
                <a:solidFill>
                  <a:srgbClr val="000000"/>
                </a:solidFill>
                <a:effectLst/>
                <a:latin typeface="Arial" panose="020B0604020202020204" pitchFamily="34" charset="0"/>
              </a:rPr>
              <a:t>	1</a:t>
            </a:r>
            <a:r>
              <a:rPr lang="en-IN" sz="1800" b="1" dirty="0">
                <a:solidFill>
                  <a:srgbClr val="000000"/>
                </a:solidFill>
                <a:latin typeface="Arial" panose="020B0604020202020204" pitchFamily="34" charset="0"/>
              </a:rPr>
              <a:t>.Arima Model</a:t>
            </a:r>
          </a:p>
          <a:p>
            <a:pPr marL="0" indent="0">
              <a:buNone/>
            </a:pPr>
            <a:endParaRPr lang="en-IN" sz="1800" b="1" dirty="0">
              <a:solidFill>
                <a:srgbClr val="000000"/>
              </a:solidFill>
              <a:latin typeface="Arial" panose="020B0604020202020204" pitchFamily="34" charset="0"/>
            </a:endParaRPr>
          </a:p>
          <a:p>
            <a:pPr marL="0" indent="0">
              <a:buNone/>
            </a:pPr>
            <a:endParaRPr lang="en-IN" sz="1800" b="1" dirty="0">
              <a:solidFill>
                <a:srgbClr val="000000"/>
              </a:solidFill>
              <a:latin typeface="Arial" panose="020B0604020202020204" pitchFamily="34" charset="0"/>
            </a:endParaRPr>
          </a:p>
          <a:p>
            <a:pPr marL="0" indent="0">
              <a:buNone/>
            </a:pPr>
            <a:endParaRPr lang="en-IN" sz="1800" b="1" dirty="0">
              <a:solidFill>
                <a:srgbClr val="000000"/>
              </a:solidFill>
              <a:latin typeface="Arial" panose="020B0604020202020204" pitchFamily="34" charset="0"/>
            </a:endParaRPr>
          </a:p>
          <a:p>
            <a:pPr marL="0" indent="0">
              <a:buNone/>
            </a:pPr>
            <a:r>
              <a:rPr lang="en-IN" sz="1800" b="1" dirty="0">
                <a:solidFill>
                  <a:srgbClr val="000000"/>
                </a:solidFill>
                <a:latin typeface="Arial" panose="020B0604020202020204" pitchFamily="34" charset="0"/>
              </a:rPr>
              <a:t>	</a:t>
            </a:r>
            <a:endParaRPr lang="en-IN" sz="1800" i="0" strike="noStrike" dirty="0">
              <a:solidFill>
                <a:srgbClr val="000000"/>
              </a:solidFill>
              <a:effectLst/>
              <a:latin typeface="Arial" panose="020B0604020202020204" pitchFamily="34" charset="0"/>
            </a:endParaRPr>
          </a:p>
        </p:txBody>
      </p:sp>
      <p:sp>
        <p:nvSpPr>
          <p:cNvPr id="6" name="Content Placeholder 4">
            <a:extLst>
              <a:ext uri="{FF2B5EF4-FFF2-40B4-BE49-F238E27FC236}">
                <a16:creationId xmlns:a16="http://schemas.microsoft.com/office/drawing/2014/main" id="{22C6006A-3820-E69E-BE7C-7271BC4ED0B8}"/>
              </a:ext>
            </a:extLst>
          </p:cNvPr>
          <p:cNvSpPr txBox="1">
            <a:spLocks/>
          </p:cNvSpPr>
          <p:nvPr/>
        </p:nvSpPr>
        <p:spPr>
          <a:xfrm>
            <a:off x="581192" y="4158394"/>
            <a:ext cx="11029615" cy="78422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GB" sz="1800" dirty="0">
                <a:solidFill>
                  <a:srgbClr val="000000"/>
                </a:solidFill>
                <a:latin typeface="Arial" panose="020B0604020202020204" pitchFamily="34" charset="0"/>
              </a:rPr>
              <a:t>MAE and MSE giving model performing well. Check with SARIMAX Model as well</a:t>
            </a:r>
            <a:endParaRPr lang="en-IN" sz="1800" dirty="0">
              <a:solidFill>
                <a:srgbClr val="000000"/>
              </a:solidFill>
              <a:latin typeface="Arial" panose="020B0604020202020204" pitchFamily="34" charset="0"/>
            </a:endParaRPr>
          </a:p>
        </p:txBody>
      </p:sp>
      <p:pic>
        <p:nvPicPr>
          <p:cNvPr id="8" name="Picture 7">
            <a:extLst>
              <a:ext uri="{FF2B5EF4-FFF2-40B4-BE49-F238E27FC236}">
                <a16:creationId xmlns:a16="http://schemas.microsoft.com/office/drawing/2014/main" id="{F042FCBE-C18B-A677-5F49-45BA0389DEB9}"/>
              </a:ext>
            </a:extLst>
          </p:cNvPr>
          <p:cNvPicPr>
            <a:picLocks noChangeAspect="1"/>
          </p:cNvPicPr>
          <p:nvPr/>
        </p:nvPicPr>
        <p:blipFill>
          <a:blip r:embed="rId2"/>
          <a:srcRect/>
          <a:stretch/>
        </p:blipFill>
        <p:spPr>
          <a:xfrm>
            <a:off x="1968229" y="2920915"/>
            <a:ext cx="6798399" cy="1328422"/>
          </a:xfrm>
          <a:prstGeom prst="rect">
            <a:avLst/>
          </a:prstGeom>
        </p:spPr>
      </p:pic>
    </p:spTree>
    <p:extLst>
      <p:ext uri="{BB962C8B-B14F-4D97-AF65-F5344CB8AC3E}">
        <p14:creationId xmlns:p14="http://schemas.microsoft.com/office/powerpoint/2010/main" val="32167984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US" dirty="0"/>
              <a:t>Approach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2753696"/>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Model Training</a:t>
            </a:r>
          </a:p>
          <a:p>
            <a:pPr marL="0" indent="0">
              <a:buNone/>
            </a:pPr>
            <a:r>
              <a:rPr lang="en-IN" sz="1800" b="1" i="0" strike="noStrike" dirty="0">
                <a:solidFill>
                  <a:srgbClr val="000000"/>
                </a:solidFill>
                <a:effectLst/>
                <a:latin typeface="Arial" panose="020B0604020202020204" pitchFamily="34" charset="0"/>
              </a:rPr>
              <a:t>	</a:t>
            </a:r>
            <a:r>
              <a:rPr lang="en-IN" sz="1800" b="1" dirty="0">
                <a:solidFill>
                  <a:srgbClr val="000000"/>
                </a:solidFill>
                <a:latin typeface="Arial" panose="020B0604020202020204" pitchFamily="34" charset="0"/>
              </a:rPr>
              <a:t> 2. SARIMAX Model</a:t>
            </a:r>
          </a:p>
          <a:p>
            <a:pPr marL="0" indent="0">
              <a:buNone/>
            </a:pPr>
            <a:endParaRPr lang="en-IN" sz="1800" b="1" dirty="0">
              <a:solidFill>
                <a:srgbClr val="000000"/>
              </a:solidFill>
              <a:latin typeface="Arial" panose="020B0604020202020204" pitchFamily="34" charset="0"/>
            </a:endParaRPr>
          </a:p>
          <a:p>
            <a:pPr marL="0" indent="0">
              <a:buNone/>
            </a:pPr>
            <a:endParaRPr lang="en-IN" sz="1800" b="1" dirty="0">
              <a:solidFill>
                <a:srgbClr val="000000"/>
              </a:solidFill>
              <a:latin typeface="Arial" panose="020B0604020202020204" pitchFamily="34" charset="0"/>
            </a:endParaRPr>
          </a:p>
          <a:p>
            <a:pPr marL="0" indent="0">
              <a:buNone/>
            </a:pPr>
            <a:endParaRPr lang="en-IN" sz="1800" b="1" dirty="0">
              <a:solidFill>
                <a:srgbClr val="000000"/>
              </a:solidFill>
              <a:latin typeface="Arial" panose="020B0604020202020204" pitchFamily="34" charset="0"/>
            </a:endParaRPr>
          </a:p>
          <a:p>
            <a:pPr marL="0" indent="0">
              <a:buNone/>
            </a:pPr>
            <a:r>
              <a:rPr lang="en-IN" sz="1800" b="1" dirty="0">
                <a:solidFill>
                  <a:srgbClr val="000000"/>
                </a:solidFill>
                <a:latin typeface="Arial" panose="020B0604020202020204" pitchFamily="34" charset="0"/>
              </a:rPr>
              <a:t>	</a:t>
            </a:r>
            <a:endParaRPr lang="en-IN" sz="1800" i="0" strike="noStrike" dirty="0">
              <a:solidFill>
                <a:srgbClr val="000000"/>
              </a:solidFill>
              <a:effectLst/>
              <a:latin typeface="Arial" panose="020B0604020202020204" pitchFamily="34" charset="0"/>
            </a:endParaRPr>
          </a:p>
        </p:txBody>
      </p:sp>
      <p:sp>
        <p:nvSpPr>
          <p:cNvPr id="6" name="Content Placeholder 4">
            <a:extLst>
              <a:ext uri="{FF2B5EF4-FFF2-40B4-BE49-F238E27FC236}">
                <a16:creationId xmlns:a16="http://schemas.microsoft.com/office/drawing/2014/main" id="{22C6006A-3820-E69E-BE7C-7271BC4ED0B8}"/>
              </a:ext>
            </a:extLst>
          </p:cNvPr>
          <p:cNvSpPr txBox="1">
            <a:spLocks/>
          </p:cNvSpPr>
          <p:nvPr/>
        </p:nvSpPr>
        <p:spPr>
          <a:xfrm>
            <a:off x="581192" y="4158394"/>
            <a:ext cx="11029615" cy="784228"/>
          </a:xfrm>
          <a:prstGeom prst="rect">
            <a:avLst/>
          </a:prstGeom>
        </p:spPr>
        <p:txBody>
          <a:bodyPr vert="horz" lIns="91440" tIns="45720" rIns="91440" bIns="45720" rtlCol="0" anchor="ctr">
            <a:normAutofit/>
          </a:bodyPr>
          <a:lst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a:lstStyle>
          <a:p>
            <a:pPr marL="0" indent="0">
              <a:buFont typeface="Wingdings 2" panose="05020102010507070707" pitchFamily="18" charset="2"/>
              <a:buNone/>
            </a:pPr>
            <a:r>
              <a:rPr lang="en-GB" sz="1800" dirty="0">
                <a:solidFill>
                  <a:srgbClr val="000000"/>
                </a:solidFill>
                <a:latin typeface="Arial" panose="020B0604020202020204" pitchFamily="34" charset="0"/>
              </a:rPr>
              <a:t>Compared to ARIMA Model we get the good improvement in SARIMAX</a:t>
            </a:r>
            <a:endParaRPr lang="en-IN" sz="1800" dirty="0">
              <a:solidFill>
                <a:srgbClr val="000000"/>
              </a:solidFill>
              <a:latin typeface="Arial" panose="020B0604020202020204" pitchFamily="34" charset="0"/>
            </a:endParaRPr>
          </a:p>
        </p:txBody>
      </p:sp>
      <p:pic>
        <p:nvPicPr>
          <p:cNvPr id="11" name="Picture 10">
            <a:extLst>
              <a:ext uri="{FF2B5EF4-FFF2-40B4-BE49-F238E27FC236}">
                <a16:creationId xmlns:a16="http://schemas.microsoft.com/office/drawing/2014/main" id="{754DCB8C-BC2B-F55F-D103-4B55DC6705DF}"/>
              </a:ext>
            </a:extLst>
          </p:cNvPr>
          <p:cNvPicPr>
            <a:picLocks noChangeAspect="1"/>
          </p:cNvPicPr>
          <p:nvPr/>
        </p:nvPicPr>
        <p:blipFill>
          <a:blip r:embed="rId2"/>
          <a:srcRect/>
          <a:stretch/>
        </p:blipFill>
        <p:spPr>
          <a:xfrm>
            <a:off x="1021717" y="3109146"/>
            <a:ext cx="7604553" cy="1043763"/>
          </a:xfrm>
          <a:prstGeom prst="rect">
            <a:avLst/>
          </a:prstGeom>
        </p:spPr>
      </p:pic>
    </p:spTree>
    <p:extLst>
      <p:ext uri="{BB962C8B-B14F-4D97-AF65-F5344CB8AC3E}">
        <p14:creationId xmlns:p14="http://schemas.microsoft.com/office/powerpoint/2010/main" val="42621619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6"/>
            <a:ext cx="11029616" cy="890670"/>
          </a:xfrm>
        </p:spPr>
        <p:txBody>
          <a:bodyPr/>
          <a:lstStyle/>
          <a:p>
            <a:r>
              <a:rPr lang="en-IN" dirty="0"/>
              <a:t>Approach</a:t>
            </a:r>
            <a:r>
              <a:rPr lang="en-IN" sz="1800" b="1" i="0" u="none" strike="noStrike" dirty="0">
                <a:solidFill>
                  <a:srgbClr val="000000"/>
                </a:solidFill>
                <a:effectLst/>
                <a:latin typeface="Arial" panose="020B0604020202020204" pitchFamily="34" charset="0"/>
              </a:rPr>
              <a:t> </a:t>
            </a:r>
            <a:r>
              <a:rPr lang="en-US" dirty="0"/>
              <a:t>	</a:t>
            </a:r>
          </a:p>
        </p:txBody>
      </p:sp>
      <p:sp>
        <p:nvSpPr>
          <p:cNvPr id="5" name="Content Placeholder 4">
            <a:extLst>
              <a:ext uri="{FF2B5EF4-FFF2-40B4-BE49-F238E27FC236}">
                <a16:creationId xmlns:a16="http://schemas.microsoft.com/office/drawing/2014/main" id="{15D64C80-753A-4788-98FD-B017B14AEDD2}"/>
              </a:ext>
            </a:extLst>
          </p:cNvPr>
          <p:cNvSpPr>
            <a:spLocks noGrp="1"/>
          </p:cNvSpPr>
          <p:nvPr>
            <p:ph idx="1"/>
          </p:nvPr>
        </p:nvSpPr>
        <p:spPr>
          <a:xfrm>
            <a:off x="581192" y="1890876"/>
            <a:ext cx="11029615" cy="3682610"/>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Sales Prediction</a:t>
            </a:r>
          </a:p>
          <a:p>
            <a:pPr marL="0" indent="0">
              <a:buNone/>
            </a:pPr>
            <a:r>
              <a:rPr lang="en-IN" sz="1800" dirty="0">
                <a:solidFill>
                  <a:srgbClr val="000000"/>
                </a:solidFill>
                <a:latin typeface="Arial" panose="020B0604020202020204" pitchFamily="34" charset="0"/>
              </a:rPr>
              <a:t>	Since Model trained using trained model start predicting the Sales for a given input and out put Dates.</a:t>
            </a:r>
          </a:p>
          <a:p>
            <a:pPr marL="0" indent="0">
              <a:buNone/>
            </a:pPr>
            <a:endParaRPr lang="en-IN" sz="1800" b="1" i="0" u="sng" strike="noStrike" dirty="0">
              <a:solidFill>
                <a:srgbClr val="000000"/>
              </a:solidFill>
              <a:effectLst/>
              <a:latin typeface="Arial" panose="020B0604020202020204" pitchFamily="34" charset="0"/>
            </a:endParaRPr>
          </a:p>
          <a:p>
            <a:pPr marL="0" indent="0">
              <a:buNone/>
            </a:pPr>
            <a:r>
              <a:rPr lang="en-IN" sz="1800" b="1" i="0" strike="noStrike" dirty="0">
                <a:solidFill>
                  <a:srgbClr val="000000"/>
                </a:solidFill>
                <a:effectLst/>
                <a:latin typeface="Arial" panose="020B0604020202020204" pitchFamily="34" charset="0"/>
              </a:rPr>
              <a:t>	</a:t>
            </a:r>
            <a:r>
              <a:rPr lang="en-IN" sz="1800" dirty="0">
                <a:solidFill>
                  <a:srgbClr val="000000"/>
                </a:solidFill>
                <a:latin typeface="Arial" panose="020B0604020202020204" pitchFamily="34" charset="0"/>
              </a:rPr>
              <a:t>Users Input: From date and To Date</a:t>
            </a:r>
          </a:p>
          <a:p>
            <a:pPr marL="0" indent="0">
              <a:buNone/>
            </a:pPr>
            <a:r>
              <a:rPr lang="en-IN" sz="1800" dirty="0">
                <a:solidFill>
                  <a:srgbClr val="000000"/>
                </a:solidFill>
                <a:latin typeface="Arial" panose="020B0604020202020204" pitchFamily="34" charset="0"/>
              </a:rPr>
              <a:t>		</a:t>
            </a:r>
          </a:p>
          <a:p>
            <a:pPr marL="0" indent="0">
              <a:buNone/>
            </a:pPr>
            <a:endParaRPr lang="en-IN" sz="1800" b="1" dirty="0">
              <a:solidFill>
                <a:srgbClr val="000000"/>
              </a:solidFill>
              <a:latin typeface="Arial" panose="020B0604020202020204" pitchFamily="34" charset="0"/>
            </a:endParaRPr>
          </a:p>
          <a:p>
            <a:pPr marL="0" indent="0">
              <a:buNone/>
            </a:pPr>
            <a:r>
              <a:rPr lang="en-IN" sz="1800" b="1" dirty="0">
                <a:solidFill>
                  <a:srgbClr val="000000"/>
                </a:solidFill>
                <a:latin typeface="Arial" panose="020B0604020202020204" pitchFamily="34" charset="0"/>
              </a:rPr>
              <a:t>	</a:t>
            </a:r>
            <a:endParaRPr lang="en-IN" sz="1800" i="0" strike="noStrike" dirty="0">
              <a:solidFill>
                <a:srgbClr val="000000"/>
              </a:solidFill>
              <a:effectLst/>
              <a:latin typeface="Arial" panose="020B0604020202020204" pitchFamily="34" charset="0"/>
            </a:endParaRPr>
          </a:p>
        </p:txBody>
      </p:sp>
      <p:pic>
        <p:nvPicPr>
          <p:cNvPr id="7" name="Picture 6">
            <a:extLst>
              <a:ext uri="{FF2B5EF4-FFF2-40B4-BE49-F238E27FC236}">
                <a16:creationId xmlns:a16="http://schemas.microsoft.com/office/drawing/2014/main" id="{62785420-0165-4B4B-0D92-A7F4AAC8256A}"/>
              </a:ext>
            </a:extLst>
          </p:cNvPr>
          <p:cNvPicPr>
            <a:picLocks noChangeAspect="1"/>
          </p:cNvPicPr>
          <p:nvPr/>
        </p:nvPicPr>
        <p:blipFill>
          <a:blip r:embed="rId2"/>
          <a:stretch>
            <a:fillRect/>
          </a:stretch>
        </p:blipFill>
        <p:spPr>
          <a:xfrm>
            <a:off x="720526" y="4234934"/>
            <a:ext cx="9713532" cy="1636602"/>
          </a:xfrm>
          <a:prstGeom prst="rect">
            <a:avLst/>
          </a:prstGeom>
        </p:spPr>
      </p:pic>
    </p:spTree>
    <p:extLst>
      <p:ext uri="{BB962C8B-B14F-4D97-AF65-F5344CB8AC3E}">
        <p14:creationId xmlns:p14="http://schemas.microsoft.com/office/powerpoint/2010/main" val="2662858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5F85C-1F5C-A7EE-7D03-8500E94D6A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EBA99B-7BA1-EC48-6486-60DF077A0A22}"/>
              </a:ext>
            </a:extLst>
          </p:cNvPr>
          <p:cNvSpPr>
            <a:spLocks noGrp="1"/>
          </p:cNvSpPr>
          <p:nvPr>
            <p:ph type="title"/>
          </p:nvPr>
        </p:nvSpPr>
        <p:spPr>
          <a:xfrm>
            <a:off x="581192" y="702156"/>
            <a:ext cx="11029616" cy="890670"/>
          </a:xfrm>
        </p:spPr>
        <p:txBody>
          <a:bodyPr/>
          <a:lstStyle/>
          <a:p>
            <a:r>
              <a:rPr lang="en-IN" dirty="0"/>
              <a:t>Approach</a:t>
            </a:r>
            <a:r>
              <a:rPr lang="en-IN" sz="1800" b="1" i="0" u="none" strike="noStrike" dirty="0">
                <a:solidFill>
                  <a:srgbClr val="000000"/>
                </a:solidFill>
                <a:effectLst/>
                <a:latin typeface="Arial" panose="020B0604020202020204" pitchFamily="34" charset="0"/>
              </a:rPr>
              <a:t> </a:t>
            </a:r>
            <a:r>
              <a:rPr lang="en-US" dirty="0"/>
              <a:t>	</a:t>
            </a:r>
          </a:p>
        </p:txBody>
      </p:sp>
      <p:sp>
        <p:nvSpPr>
          <p:cNvPr id="5" name="Content Placeholder 4">
            <a:extLst>
              <a:ext uri="{FF2B5EF4-FFF2-40B4-BE49-F238E27FC236}">
                <a16:creationId xmlns:a16="http://schemas.microsoft.com/office/drawing/2014/main" id="{C261D300-2527-7C35-938B-033B7E9938DC}"/>
              </a:ext>
            </a:extLst>
          </p:cNvPr>
          <p:cNvSpPr>
            <a:spLocks noGrp="1"/>
          </p:cNvSpPr>
          <p:nvPr>
            <p:ph idx="1"/>
          </p:nvPr>
        </p:nvSpPr>
        <p:spPr>
          <a:xfrm>
            <a:off x="581192" y="1890876"/>
            <a:ext cx="11029615" cy="3682610"/>
          </a:xfrm>
        </p:spPr>
        <p:txBody>
          <a:bodyPr>
            <a:normAutofit/>
          </a:bodyPr>
          <a:lstStyle/>
          <a:p>
            <a:pPr marL="0" indent="0">
              <a:buNone/>
            </a:pPr>
            <a:r>
              <a:rPr lang="en-IN" sz="1800" b="1" i="0" u="sng" strike="noStrike" dirty="0">
                <a:solidFill>
                  <a:srgbClr val="000000"/>
                </a:solidFill>
                <a:effectLst/>
                <a:latin typeface="Arial" panose="020B0604020202020204" pitchFamily="34" charset="0"/>
              </a:rPr>
              <a:t>Sales Prediction</a:t>
            </a:r>
          </a:p>
          <a:p>
            <a:pPr marL="0" indent="0">
              <a:buNone/>
            </a:pPr>
            <a:endParaRPr lang="en-IN" sz="1800" b="1" i="0" u="sng" strike="noStrike" dirty="0">
              <a:solidFill>
                <a:srgbClr val="000000"/>
              </a:solidFill>
              <a:effectLst/>
              <a:latin typeface="Arial" panose="020B0604020202020204" pitchFamily="34" charset="0"/>
            </a:endParaRPr>
          </a:p>
          <a:p>
            <a:pPr marL="0" indent="0">
              <a:buNone/>
            </a:pPr>
            <a:r>
              <a:rPr lang="en-IN" sz="1800" dirty="0">
                <a:solidFill>
                  <a:srgbClr val="000000"/>
                </a:solidFill>
                <a:latin typeface="Arial" panose="020B0604020202020204" pitchFamily="34" charset="0"/>
              </a:rPr>
              <a:t>	No of Pizza’s for a day and ingredients required for a requested time frame will be exported as a excel 	and store in place.</a:t>
            </a:r>
            <a:endParaRPr lang="en-IN" sz="1800" b="1" dirty="0">
              <a:solidFill>
                <a:srgbClr val="000000"/>
              </a:solidFill>
              <a:latin typeface="Arial" panose="020B0604020202020204" pitchFamily="34" charset="0"/>
            </a:endParaRPr>
          </a:p>
          <a:p>
            <a:pPr marL="0" indent="0">
              <a:buNone/>
            </a:pPr>
            <a:r>
              <a:rPr lang="en-IN" sz="1800" b="1" dirty="0">
                <a:solidFill>
                  <a:srgbClr val="000000"/>
                </a:solidFill>
                <a:latin typeface="Arial" panose="020B0604020202020204" pitchFamily="34" charset="0"/>
              </a:rPr>
              <a:t>	</a:t>
            </a:r>
            <a:endParaRPr lang="en-IN" sz="1800" i="0" strike="noStrike"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1940370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62972-3449-42D1-8185-B4BEFD52AB44}"/>
              </a:ext>
            </a:extLst>
          </p:cNvPr>
          <p:cNvSpPr>
            <a:spLocks noGrp="1"/>
          </p:cNvSpPr>
          <p:nvPr>
            <p:ph type="title"/>
          </p:nvPr>
        </p:nvSpPr>
        <p:spPr>
          <a:xfrm>
            <a:off x="581192" y="702155"/>
            <a:ext cx="11029616" cy="5655101"/>
          </a:xfrm>
        </p:spPr>
        <p:txBody>
          <a:bodyPr anchor="ctr">
            <a:normAutofit/>
          </a:bodyPr>
          <a:lstStyle/>
          <a:p>
            <a:pPr algn="ctr"/>
            <a:r>
              <a:rPr lang="en-IN" sz="8800" dirty="0"/>
              <a:t>Thanks!</a:t>
            </a:r>
            <a:endParaRPr lang="en-US" sz="8800" dirty="0"/>
          </a:p>
        </p:txBody>
      </p:sp>
    </p:spTree>
    <p:extLst>
      <p:ext uri="{BB962C8B-B14F-4D97-AF65-F5344CB8AC3E}">
        <p14:creationId xmlns:p14="http://schemas.microsoft.com/office/powerpoint/2010/main" val="3976951456"/>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2.xml><?xml version="1.0" encoding="utf-8"?>
<ds:datastoreItem xmlns:ds="http://schemas.openxmlformats.org/officeDocument/2006/customXml" ds:itemID="{41E7CA09-9778-4414-AE97-8064B12DA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D289AE2-D2AE-49D1-AFAC-3A79F6794255}">
  <ds:schemaRefs>
    <ds:schemaRef ds:uri="http://purl.org/dc/terms/"/>
    <ds:schemaRef ds:uri="71af3243-3dd4-4a8d-8c0d-dd76da1f02a5"/>
    <ds:schemaRef ds:uri="http://schemas.microsoft.com/office/infopath/2007/PartnerControls"/>
    <ds:schemaRef ds:uri="http://schemas.microsoft.com/office/2006/documentManagement/types"/>
    <ds:schemaRef ds:uri="http://schemas.openxmlformats.org/package/2006/metadata/core-properties"/>
    <ds:schemaRef ds:uri="16c05727-aa75-4e4a-9b5f-8a80a1165891"/>
    <ds:schemaRef ds:uri="http://purl.org/dc/elements/1.1/"/>
    <ds:schemaRef ds:uri="http://schemas.microsoft.com/office/2006/metadata/properties"/>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{341F4E2C-4485-4631-8028-9B13ABAF684D}tf33552983_win32</Template>
  <TotalTime>874</TotalTime>
  <Words>418</Words>
  <Application>Microsoft Office PowerPoint</Application>
  <PresentationFormat>Widescreen</PresentationFormat>
  <Paragraphs>64</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Arial</vt:lpstr>
      <vt:lpstr>Franklin Gothic Book</vt:lpstr>
      <vt:lpstr>Franklin Gothic Demi</vt:lpstr>
      <vt:lpstr>Wingdings 2</vt:lpstr>
      <vt:lpstr>DividendVTI</vt:lpstr>
      <vt:lpstr>Dominos - Predictive Purchase Order System</vt:lpstr>
      <vt:lpstr>Objective </vt:lpstr>
      <vt:lpstr>Approach </vt:lpstr>
      <vt:lpstr>Approach </vt:lpstr>
      <vt:lpstr>Approach </vt:lpstr>
      <vt:lpstr>Approach </vt:lpstr>
      <vt:lpstr>Approach </vt:lpstr>
      <vt:lpstr>Approach </vt:lpstr>
      <vt:lpstr>Approach </vt:lpstr>
      <vt:lpstr>Approach </vt:lpstr>
      <vt:lpstr>Approach </vt:lpstr>
      <vt:lpstr>Approach  </vt:lpstr>
      <vt:lpstr>Approach  </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Yogeshwaran Purushothaman</dc:creator>
  <cp:lastModifiedBy>Yogeshwaran Purushothaman</cp:lastModifiedBy>
  <cp:revision>4</cp:revision>
  <dcterms:created xsi:type="dcterms:W3CDTF">2024-10-02T16:17:30Z</dcterms:created>
  <dcterms:modified xsi:type="dcterms:W3CDTF">2025-04-14T14:57:06Z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